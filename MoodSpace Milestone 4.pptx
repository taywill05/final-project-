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1522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1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84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9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2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0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7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0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9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4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1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56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02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62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74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48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35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8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0ECE179-78C9-4563-A6D0-48929E94A9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317FBC2-DEA2-4B19-BC9E-21C49D33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6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6079-7D4A-BF3C-427D-0897A22A5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760912"/>
            <a:ext cx="8825658" cy="2639415"/>
          </a:xfrm>
        </p:spPr>
        <p:txBody>
          <a:bodyPr/>
          <a:lstStyle/>
          <a:p>
            <a:pPr algn="ctr"/>
            <a:r>
              <a:rPr lang="en-US" dirty="0"/>
              <a:t>Milestone 4: COP3060</a:t>
            </a:r>
            <a:br>
              <a:rPr lang="en-US" dirty="0"/>
            </a:br>
            <a:r>
              <a:rPr lang="en-US" dirty="0" err="1"/>
              <a:t>MoodSpace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4FFD4-C0E5-835F-2884-9A98E0EF6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3400327"/>
            <a:ext cx="8825658" cy="232532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Logan Boone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Taylor Williams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Breanna Taffe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Shemaiah Lester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68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A3CF-0F7B-46DD-AFED-AD59B25AF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5353" y="762383"/>
            <a:ext cx="2981292" cy="84780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B4DA4B-FD7E-CD7B-9424-E646588B48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90298" y="1711652"/>
            <a:ext cx="10411403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MoodSpace</a:t>
            </a:r>
            <a:r>
              <a:rPr lang="en-US" dirty="0">
                <a:solidFill>
                  <a:schemeClr val="bg1"/>
                </a:solidFill>
              </a:rPr>
              <a:t> web application. Participants completed the following tasks; Users completed the following tasks: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Log in to the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Generate a new vibe check using AI-generated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Save a vibe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View mood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Log out and log back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 (Body)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 (Body)"/>
              </a:rPr>
              <a:t>The interface was described as visually engaging and intuitive.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 (Body)"/>
              </a:rPr>
              <a:t>Users understood the vibe check flow without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68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A363-E95F-AFBE-06BA-5035369B3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4334" y="1219199"/>
            <a:ext cx="4723331" cy="861421"/>
          </a:xfrm>
        </p:spPr>
        <p:txBody>
          <a:bodyPr/>
          <a:lstStyle/>
          <a:p>
            <a:pPr algn="ctr"/>
            <a:r>
              <a:rPr lang="en-US" dirty="0"/>
              <a:t>Performance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5CF44D-7486-7230-39B5-780D0B3A8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246437"/>
              </p:ext>
            </p:extLst>
          </p:nvPr>
        </p:nvGraphicFramePr>
        <p:xfrm>
          <a:off x="890297" y="3752831"/>
          <a:ext cx="10411404" cy="1981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468">
                  <a:extLst>
                    <a:ext uri="{9D8B030D-6E8A-4147-A177-3AD203B41FA5}">
                      <a16:colId xmlns:a16="http://schemas.microsoft.com/office/drawing/2014/main" val="3986767362"/>
                    </a:ext>
                  </a:extLst>
                </a:gridCol>
                <a:gridCol w="3470468">
                  <a:extLst>
                    <a:ext uri="{9D8B030D-6E8A-4147-A177-3AD203B41FA5}">
                      <a16:colId xmlns:a16="http://schemas.microsoft.com/office/drawing/2014/main" val="1988995033"/>
                    </a:ext>
                  </a:extLst>
                </a:gridCol>
                <a:gridCol w="3470468">
                  <a:extLst>
                    <a:ext uri="{9D8B030D-6E8A-4147-A177-3AD203B41FA5}">
                      <a16:colId xmlns:a16="http://schemas.microsoft.com/office/drawing/2014/main" val="3843898433"/>
                    </a:ext>
                  </a:extLst>
                </a:gridCol>
              </a:tblGrid>
              <a:tr h="5089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Before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After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893609"/>
                  </a:ext>
                </a:extLst>
              </a:tr>
              <a:tr h="490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Initial page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~1.6s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~1.1s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53256"/>
                  </a:ext>
                </a:extLst>
              </a:tr>
              <a:tr h="490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vibe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~2.8s-3.2s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~2.2s-2.5s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81981"/>
                  </a:ext>
                </a:extLst>
              </a:tr>
              <a:tr h="490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Mood save API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~450ms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~300ms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4668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DABD64E-3725-9C6E-E176-D5EFE34DC9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90298" y="2080620"/>
            <a:ext cx="10411403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Optimizations applied: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Prevented unnecessary API calls by caching questions in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localStorage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Avoided regenerating AI questions unless explicitly requested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Reduced re-renders by clearing state only when needed</a:t>
            </a:r>
          </a:p>
        </p:txBody>
      </p:sp>
    </p:spTree>
    <p:extLst>
      <p:ext uri="{BB962C8B-B14F-4D97-AF65-F5344CB8AC3E}">
        <p14:creationId xmlns:p14="http://schemas.microsoft.com/office/powerpoint/2010/main" val="415386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F85F-C34E-D5BC-33A3-0E08E19EC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5477" y="615043"/>
            <a:ext cx="4941045" cy="861420"/>
          </a:xfrm>
        </p:spPr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E7338-561E-F957-04B3-C4DD2937F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269671"/>
            <a:ext cx="10030116" cy="3853543"/>
          </a:xfrm>
        </p:spPr>
        <p:txBody>
          <a:bodyPr/>
          <a:lstStyle/>
          <a:p>
            <a:r>
              <a:rPr lang="en-US" b="1" dirty="0"/>
              <a:t>Improvement 1: Session Based Question Reset</a:t>
            </a:r>
          </a:p>
          <a:p>
            <a:r>
              <a:rPr lang="en-US" dirty="0"/>
              <a:t>Issue: users initially saw old questions unless “New Vibe Check” was clicked.</a:t>
            </a:r>
          </a:p>
          <a:p>
            <a:endParaRPr lang="en-US" dirty="0"/>
          </a:p>
          <a:p>
            <a:r>
              <a:rPr lang="en-US" b="1" dirty="0"/>
              <a:t>Solution:</a:t>
            </a:r>
            <a:br>
              <a:rPr lang="en-US" dirty="0"/>
            </a:br>
            <a:r>
              <a:rPr lang="en-US" dirty="0"/>
              <a:t>Questions and answers are now cleared on:</a:t>
            </a:r>
          </a:p>
          <a:p>
            <a:r>
              <a:rPr lang="en-US" dirty="0"/>
              <a:t>Login</a:t>
            </a:r>
          </a:p>
          <a:p>
            <a:r>
              <a:rPr lang="en-US" dirty="0"/>
              <a:t>Logout</a:t>
            </a:r>
          </a:p>
          <a:p>
            <a:endParaRPr lang="en-US" dirty="0"/>
          </a:p>
          <a:p>
            <a:r>
              <a:rPr lang="en-US" b="1" dirty="0"/>
              <a:t>Evidence:</a:t>
            </a:r>
            <a:br>
              <a:rPr lang="en-US" dirty="0"/>
            </a:br>
            <a:r>
              <a:rPr lang="en-US" dirty="0"/>
              <a:t>users consistently received fresh AI-generated questions on first login.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10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1750-7317-BBF5-1D7F-527C0161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52C9-5A15-5106-9167-7F165D420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5477" y="615043"/>
            <a:ext cx="4941045" cy="861420"/>
          </a:xfrm>
        </p:spPr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565A2-5106-02C6-4E69-AE4E5F411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942" y="2367643"/>
            <a:ext cx="10030116" cy="3575958"/>
          </a:xfrm>
        </p:spPr>
        <p:txBody>
          <a:bodyPr/>
          <a:lstStyle/>
          <a:p>
            <a:r>
              <a:rPr lang="en-US" b="1" dirty="0"/>
              <a:t>Improvement 2: Duplicate Submission Prevention</a:t>
            </a:r>
          </a:p>
          <a:p>
            <a:r>
              <a:rPr lang="en-US" b="1" dirty="0"/>
              <a:t>Issue:</a:t>
            </a:r>
            <a:r>
              <a:rPr lang="en-US" dirty="0"/>
              <a:t> Users could accidentally click </a:t>
            </a:r>
            <a:r>
              <a:rPr lang="en-US" b="1" dirty="0"/>
              <a:t>Save Vibe Check</a:t>
            </a:r>
            <a:r>
              <a:rPr lang="en-US" dirty="0"/>
              <a:t> multiple times, creating duplicate entries.</a:t>
            </a:r>
          </a:p>
          <a:p>
            <a:br>
              <a:rPr lang="en-US" dirty="0"/>
            </a:br>
            <a:r>
              <a:rPr lang="en-US" b="1" dirty="0"/>
              <a:t>Solution:</a:t>
            </a:r>
            <a:br>
              <a:rPr lang="en-US" dirty="0"/>
            </a:br>
            <a:r>
              <a:rPr lang="en-US" dirty="0"/>
              <a:t>The save button is disabled while the request is processing and displays </a:t>
            </a:r>
            <a:r>
              <a:rPr lang="en-US" b="1" dirty="0"/>
              <a:t>“Saving…”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b="1" dirty="0"/>
              <a:t>Evidence:</a:t>
            </a:r>
            <a:br>
              <a:rPr lang="en-US" dirty="0"/>
            </a:br>
            <a:r>
              <a:rPr lang="en-US" dirty="0"/>
              <a:t>Duplicate vibe checks no longer appear in the database during testing.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89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35BF-CE0E-EDB2-FF52-E49969BB4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856" y="789674"/>
            <a:ext cx="7156288" cy="86142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Accessibility &amp; Ethics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D98032-386F-BEBE-DCD0-081AF32F18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03554" y="2145913"/>
            <a:ext cx="858489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High-contrast gradients were tested using a contrast checker.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Text color dynamically adjusts (white/black) based on background brightness.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Emojis are used instead of decorative images to avoid missing alt text issues.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1129C5-CEA7-E93E-2C3F-96F86C7C5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972828"/>
              </p:ext>
            </p:extLst>
          </p:nvPr>
        </p:nvGraphicFramePr>
        <p:xfrm>
          <a:off x="1641929" y="3446619"/>
          <a:ext cx="8908142" cy="2827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4071">
                  <a:extLst>
                    <a:ext uri="{9D8B030D-6E8A-4147-A177-3AD203B41FA5}">
                      <a16:colId xmlns:a16="http://schemas.microsoft.com/office/drawing/2014/main" val="3634849515"/>
                    </a:ext>
                  </a:extLst>
                </a:gridCol>
                <a:gridCol w="4454071">
                  <a:extLst>
                    <a:ext uri="{9D8B030D-6E8A-4147-A177-3AD203B41FA5}">
                      <a16:colId xmlns:a16="http://schemas.microsoft.com/office/drawing/2014/main" val="4199466272"/>
                    </a:ext>
                  </a:extLst>
                </a:gridCol>
              </a:tblGrid>
              <a:tr h="471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362570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contrast (WCAG AA)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528560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 readability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883583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Keyboard 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814577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Clear focus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03692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 text for images/icons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15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020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12FA-ED46-5B00-637C-F1D110A7F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4569" y="689794"/>
            <a:ext cx="9005272" cy="86142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Ethical AI &amp; Data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A4965-2EB2-3769-69C6-1466298C6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4569" y="1726834"/>
            <a:ext cx="9692400" cy="444137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AI Usage Ethics: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AI (Google Gemini) is used </a:t>
            </a:r>
            <a:r>
              <a:rPr lang="en-US" b="1" dirty="0">
                <a:solidFill>
                  <a:schemeClr val="bg1"/>
                </a:solidFill>
              </a:rPr>
              <a:t>only</a:t>
            </a:r>
            <a:r>
              <a:rPr lang="en-US" dirty="0">
                <a:solidFill>
                  <a:schemeClr val="bg1"/>
                </a:solidFill>
              </a:rPr>
              <a:t> for creative mood questions and quotes.</a:t>
            </a:r>
          </a:p>
          <a:p>
            <a:r>
              <a:rPr lang="en-US" dirty="0">
                <a:solidFill>
                  <a:schemeClr val="bg1"/>
                </a:solidFill>
              </a:rPr>
              <a:t>AI does </a:t>
            </a:r>
            <a:r>
              <a:rPr lang="en-US" b="1" dirty="0">
                <a:solidFill>
                  <a:schemeClr val="bg1"/>
                </a:solidFill>
              </a:rPr>
              <a:t>not</a:t>
            </a:r>
            <a:r>
              <a:rPr lang="en-US" dirty="0">
                <a:solidFill>
                  <a:schemeClr val="bg1"/>
                </a:solidFill>
              </a:rPr>
              <a:t> make decisions, diagnoses, or mental health claims.</a:t>
            </a:r>
          </a:p>
          <a:p>
            <a:r>
              <a:rPr lang="en-US" dirty="0">
                <a:solidFill>
                  <a:schemeClr val="bg1"/>
                </a:solidFill>
              </a:rPr>
              <a:t>Generated content is advisory, uplifting, and non-authoritative.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Handling: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 sensitive personal data is collected beyond username and mood entries.</a:t>
            </a:r>
          </a:p>
          <a:p>
            <a:r>
              <a:rPr lang="en-US" dirty="0">
                <a:solidFill>
                  <a:schemeClr val="bg1"/>
                </a:solidFill>
              </a:rPr>
              <a:t>Passwords are hashed and never exposed to the frontend.</a:t>
            </a:r>
          </a:p>
          <a:p>
            <a:r>
              <a:rPr lang="en-US" dirty="0">
                <a:solidFill>
                  <a:schemeClr val="bg1"/>
                </a:solidFill>
              </a:rPr>
              <a:t>JWT authentication ensures protected routes.</a:t>
            </a:r>
          </a:p>
          <a:p>
            <a:r>
              <a:rPr lang="en-US" dirty="0">
                <a:solidFill>
                  <a:schemeClr val="bg1"/>
                </a:solidFill>
              </a:rPr>
              <a:t>Users can delete mood entries at any time.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Ethical Considerations Addressed: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 emotional profiling or automated judgments</a:t>
            </a:r>
          </a:p>
          <a:p>
            <a:r>
              <a:rPr lang="en-US" dirty="0">
                <a:solidFill>
                  <a:schemeClr val="bg1"/>
                </a:solidFill>
              </a:rPr>
              <a:t>No AI-based decision-making affecting users</a:t>
            </a:r>
          </a:p>
          <a:p>
            <a:r>
              <a:rPr lang="en-US" dirty="0">
                <a:solidFill>
                  <a:schemeClr val="bg1"/>
                </a:solidFill>
              </a:rPr>
              <a:t>User control over stored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84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BEBD-4963-7B59-6257-206575562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834" y="783771"/>
            <a:ext cx="5866331" cy="1021810"/>
          </a:xfrm>
        </p:spPr>
        <p:txBody>
          <a:bodyPr/>
          <a:lstStyle/>
          <a:p>
            <a:r>
              <a:rPr lang="en-US" dirty="0"/>
              <a:t>Testing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8C056-40EA-A607-94D4-61D65303B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8442" y="2155371"/>
            <a:ext cx="9895114" cy="3673929"/>
          </a:xfrm>
        </p:spPr>
        <p:txBody>
          <a:bodyPr>
            <a:normAutofit/>
          </a:bodyPr>
          <a:lstStyle/>
          <a:p>
            <a:r>
              <a:rPr lang="en-US" b="1" dirty="0"/>
              <a:t>Backend:</a:t>
            </a:r>
            <a:r>
              <a:rPr lang="en-US" dirty="0"/>
              <a:t> 3 JUnit tests covering: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CRUD operations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Authenticated JWT routes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Unauthorized access rejection</a:t>
            </a:r>
          </a:p>
          <a:p>
            <a:r>
              <a:rPr lang="en-US" b="1" dirty="0"/>
              <a:t>Frontend:</a:t>
            </a:r>
            <a:r>
              <a:rPr lang="en-US" dirty="0"/>
              <a:t> 3 Jest tests covering: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Component rendering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User interaction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Auth-based UI behavior</a:t>
            </a:r>
          </a:p>
          <a:p>
            <a:r>
              <a:rPr lang="en-US" dirty="0"/>
              <a:t>All tests passed successfully.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05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CA76-762D-23F7-9BF8-533ED461E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063" y="930728"/>
            <a:ext cx="7433874" cy="1054467"/>
          </a:xfrm>
        </p:spPr>
        <p:txBody>
          <a:bodyPr/>
          <a:lstStyle/>
          <a:p>
            <a:r>
              <a:rPr lang="en-US" dirty="0"/>
              <a:t>AI TOOL USAGE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E2E66C-16C7-76A9-548B-82B367E90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463322"/>
              </p:ext>
            </p:extLst>
          </p:nvPr>
        </p:nvGraphicFramePr>
        <p:xfrm>
          <a:off x="1061233" y="2201658"/>
          <a:ext cx="10069534" cy="3347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286">
                  <a:extLst>
                    <a:ext uri="{9D8B030D-6E8A-4147-A177-3AD203B41FA5}">
                      <a16:colId xmlns:a16="http://schemas.microsoft.com/office/drawing/2014/main" val="261049414"/>
                    </a:ext>
                  </a:extLst>
                </a:gridCol>
                <a:gridCol w="1198255">
                  <a:extLst>
                    <a:ext uri="{9D8B030D-6E8A-4147-A177-3AD203B41FA5}">
                      <a16:colId xmlns:a16="http://schemas.microsoft.com/office/drawing/2014/main" val="1387806340"/>
                    </a:ext>
                  </a:extLst>
                </a:gridCol>
                <a:gridCol w="1644454">
                  <a:extLst>
                    <a:ext uri="{9D8B030D-6E8A-4147-A177-3AD203B41FA5}">
                      <a16:colId xmlns:a16="http://schemas.microsoft.com/office/drawing/2014/main" val="3040649367"/>
                    </a:ext>
                  </a:extLst>
                </a:gridCol>
                <a:gridCol w="1444545">
                  <a:extLst>
                    <a:ext uri="{9D8B030D-6E8A-4147-A177-3AD203B41FA5}">
                      <a16:colId xmlns:a16="http://schemas.microsoft.com/office/drawing/2014/main" val="2039161368"/>
                    </a:ext>
                  </a:extLst>
                </a:gridCol>
                <a:gridCol w="1020200">
                  <a:extLst>
                    <a:ext uri="{9D8B030D-6E8A-4147-A177-3AD203B41FA5}">
                      <a16:colId xmlns:a16="http://schemas.microsoft.com/office/drawing/2014/main" val="4060103953"/>
                    </a:ext>
                  </a:extLst>
                </a:gridCol>
                <a:gridCol w="2023742">
                  <a:extLst>
                    <a:ext uri="{9D8B030D-6E8A-4147-A177-3AD203B41FA5}">
                      <a16:colId xmlns:a16="http://schemas.microsoft.com/office/drawing/2014/main" val="2737547960"/>
                    </a:ext>
                  </a:extLst>
                </a:gridCol>
                <a:gridCol w="1787052">
                  <a:extLst>
                    <a:ext uri="{9D8B030D-6E8A-4147-A177-3AD203B41FA5}">
                      <a16:colId xmlns:a16="http://schemas.microsoft.com/office/drawing/2014/main" val="3865073075"/>
                    </a:ext>
                  </a:extLst>
                </a:gridCol>
              </a:tblGrid>
              <a:tr h="122433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AI Tool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Prompt</a:t>
                      </a:r>
                    </a:p>
                    <a:p>
                      <a:pPr algn="ctr"/>
                      <a:r>
                        <a:rPr lang="en-US"/>
                        <a:t>(Summary)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 Used</a:t>
                      </a:r>
                    </a:p>
                    <a:p>
                      <a:pPr algn="ctr"/>
                      <a:r>
                        <a:rPr lang="en-US"/>
                        <a:t>(Y/N)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Human</a:t>
                      </a:r>
                    </a:p>
                    <a:p>
                      <a:pPr algn="ctr"/>
                      <a:r>
                        <a:rPr lang="en-US"/>
                        <a:t>Revisions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Ethical Reflection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50418"/>
                  </a:ext>
                </a:extLst>
              </a:tr>
              <a:tr h="1565279">
                <a:tc>
                  <a:txBody>
                    <a:bodyPr/>
                    <a:lstStyle/>
                    <a:p>
                      <a:r>
                        <a:rPr lang="en-US" sz="1400"/>
                        <a:t>12/11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ChatGpt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testing and show us where to put my JUnit and Jest test code.</a:t>
                      </a:r>
                      <a:br>
                        <a:rPr lang="en-US" sz="1400" dirty="0"/>
                      </a:b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 understanding automated testing and project structuring.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Reviewed and adjusted the test code placement and logic to match project requirements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 was used as a learning and guidance tool; all final decisions and implementations were done by us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562220"/>
                  </a:ext>
                </a:extLst>
              </a:tr>
              <a:tr h="5577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506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711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</TotalTime>
  <Words>534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Century Gothic (Body)</vt:lpstr>
      <vt:lpstr>Wingdings 3</vt:lpstr>
      <vt:lpstr>Ion Boardroom</vt:lpstr>
      <vt:lpstr>Milestone 4: COP3060 MoodSpace </vt:lpstr>
      <vt:lpstr>Usability</vt:lpstr>
      <vt:lpstr>Performance</vt:lpstr>
      <vt:lpstr>Improvements</vt:lpstr>
      <vt:lpstr>Improvements</vt:lpstr>
      <vt:lpstr>Accessibility &amp; Ethics</vt:lpstr>
      <vt:lpstr>Ethical AI &amp; Data Handling</vt:lpstr>
      <vt:lpstr>Testing Summary</vt:lpstr>
      <vt:lpstr>AI TOOL USAGE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Lester, Shemaiah</dc:creator>
  <cp:lastModifiedBy>Lester, Shemaiah</cp:lastModifiedBy>
  <cp:revision>1</cp:revision>
  <dcterms:created xsi:type="dcterms:W3CDTF">2025-12-13T01:17:11Z</dcterms:created>
  <dcterms:modified xsi:type="dcterms:W3CDTF">2025-12-13T02:15:27Z</dcterms:modified>
</cp:coreProperties>
</file>